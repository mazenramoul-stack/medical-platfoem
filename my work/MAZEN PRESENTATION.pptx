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92" r:id="rId32"/>
    <p:sldId id="289" r:id="rId33"/>
    <p:sldId id="29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826" autoAdjust="0"/>
  </p:normalViewPr>
  <p:slideViewPr>
    <p:cSldViewPr snapToGrid="0" snapToObjects="1">
      <p:cViewPr varScale="1">
        <p:scale>
          <a:sx n="63" d="100"/>
          <a:sy n="63" d="100"/>
        </p:scale>
        <p:origin x="78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08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131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035040" cy="603504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383280"/>
            <a:ext cx="4937760" cy="4937760"/>
          </a:xfrm>
          <a:prstGeom prst="ellipse">
            <a:avLst/>
          </a:prstGeom>
          <a:solidFill>
            <a:srgbClr val="0C242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PEOPLE'S DEMOCRATIC REPUBLIC OF ALGERIA · MINISTRY OF HIGHER EDUCATION AND SCIENTIFIC RESEARCH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80467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Abdelhamid Mehri — Constantine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New Technologies of Information &amp; Communication (NTIC) · Dept. of Fundamental Computing &amp; its Applications (IFA)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— Computer Science · Option: STIC · 2025 /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NEURACARD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6928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Deep-Learning Platform for Predicting Non-Communicable Diseases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ECG, EEG, MRI &amp; Echocardiography, with explainable AI and a clinical workflow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343400"/>
            <a:ext cx="5486400" cy="0"/>
          </a:xfrm>
          <a:prstGeom prst="line">
            <a:avLst/>
          </a:prstGeom>
          <a:noFill/>
          <a:ln w="12700">
            <a:solidFill>
              <a:srgbClr val="2C4D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by: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RAMOUL Mazen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 </a:t>
            </a: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DERDOUR Makhlouf</a:t>
            </a:r>
            <a:r>
              <a:rPr lang="en-US" sz="13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Co-supervisor:   </a:t>
            </a: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TALBI Hichem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Constantine · June 2026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will cover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6" y="1479348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0" y="159822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0" y="1598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6" y="14976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04686" y="1497636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of medicine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current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350" dirty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7" y="2149641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1" y="2268513"/>
            <a:ext cx="384048" cy="384048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1" y="22685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7" y="2167929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04687" y="2167929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points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objectives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7" y="2795283"/>
            <a:ext cx="11057839" cy="4881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1" y="2914155"/>
            <a:ext cx="384048" cy="38404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1" y="29141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7" y="2813571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04687" y="2813571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· stakeholders ·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7" y="3411419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1" y="3530291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1" y="35302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7" y="3429707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504687" y="3429707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model pipelines · frameworks · demonstration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7" y="4002291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1" y="4121163"/>
            <a:ext cx="384048" cy="384048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1" y="41211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35607" y="4020579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04687" y="4020579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· training · metrics · explainable AI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7" y="4611451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1" y="4709490"/>
            <a:ext cx="384048" cy="384048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1" y="4709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35607" y="460890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Future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504687" y="4608906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· strategy · financials · market · future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62194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02 / 33</a:t>
            </a:r>
            <a:endParaRPr lang="en-US" sz="1300" dirty="0"/>
          </a:p>
        </p:txBody>
      </p:sp>
      <p:sp>
        <p:nvSpPr>
          <p:cNvPr id="41" name="Shape 2"/>
          <p:cNvSpPr/>
          <p:nvPr/>
        </p:nvSpPr>
        <p:spPr>
          <a:xfrm>
            <a:off x="566926" y="5188442"/>
            <a:ext cx="11057839" cy="502920"/>
          </a:xfrm>
          <a:prstGeom prst="roundRect">
            <a:avLst>
              <a:gd name="adj" fmla="val 13235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2" name="Shape 3"/>
          <p:cNvSpPr/>
          <p:nvPr/>
        </p:nvSpPr>
        <p:spPr>
          <a:xfrm>
            <a:off x="804670" y="530731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3" name="Text 4"/>
          <p:cNvSpPr/>
          <p:nvPr/>
        </p:nvSpPr>
        <p:spPr>
          <a:xfrm>
            <a:off x="804670" y="53073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Text 5"/>
          <p:cNvSpPr/>
          <p:nvPr/>
        </p:nvSpPr>
        <p:spPr>
          <a:xfrm>
            <a:off x="1435606" y="520673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45" name="Text 6"/>
          <p:cNvSpPr/>
          <p:nvPr/>
        </p:nvSpPr>
        <p:spPr>
          <a:xfrm>
            <a:off x="5504686" y="5206730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50" dirty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medicine is being transformed by AI </a:t>
            </a:r>
            <a:r>
              <a:rPr lang="en-US" sz="1600" dirty="0" smtClean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integrated tools are needed.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and signal analysis are going from reactive to predictive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reaches clinically-competitive accuracy per modality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4041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760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tools remain fragmented across specialities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03 / 33</a:t>
            </a:r>
            <a:endParaRPr lang="en-US" sz="13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field influenced by AI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413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Cardiology, neurology and radiology are undergoing a deep digital transformation. Deep-learning models now read ECGs, EEGs, MRI scans and echocardiograms at a level that complements human expertise </a:t>
            </a:r>
            <a:r>
              <a:rPr lang="en-US" sz="160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</a:t>
            </a:r>
            <a:r>
              <a:rPr lang="en-US" sz="16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from reactive diagnosis toward earlier, predictive screening</a:t>
            </a:r>
            <a:r>
              <a:rPr lang="en-US" sz="160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5413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 (NCDs) :  cardiovascular disease, cancer and chronic neurological disorders is the diseases </a:t>
            </a:r>
            <a:r>
              <a:rPr lang="en-GB" sz="1600" dirty="0" err="1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wihch</a:t>
            </a:r>
            <a:r>
              <a:rPr lang="en-GB" sz="16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spread from one person to another generally caused by genetics and unhealthy diet, are the dominant global health burden.</a:t>
            </a:r>
          </a:p>
          <a:p>
            <a:r>
              <a:rPr lang="en-GB" sz="16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making fast, accurate and accessible diagnostic , support a priority for every health system.</a:t>
            </a:r>
          </a:p>
        </p:txBody>
      </p:sp>
      <p:sp>
        <p:nvSpPr>
          <p:cNvPr id="6" name="Shape 4"/>
          <p:cNvSpPr/>
          <p:nvPr/>
        </p:nvSpPr>
        <p:spPr>
          <a:xfrm>
            <a:off x="7406640" y="1627632"/>
            <a:ext cx="4218127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71907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235440" y="1719072"/>
            <a:ext cx="220644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deaths are caused by non-communicable diseases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3145536"/>
            <a:ext cx="4218127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3236976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235440" y="3236976"/>
            <a:ext cx="220644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cardiovascular-disease deaths </a:t>
            </a:r>
            <a:r>
              <a:rPr lang="en-US" sz="125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25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number of deaths worldwide each year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4663440"/>
            <a:ext cx="4218127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4754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E5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35440" y="4754880"/>
            <a:ext cx="220644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deaths a year </a:t>
            </a:r>
            <a:r>
              <a:rPr lang="en-US" sz="125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worldwide.</a:t>
            </a:r>
          </a:p>
          <a:p>
            <a:pPr marL="0" indent="0">
              <a:buNone/>
            </a:pPr>
            <a:r>
              <a:rPr lang="en-US" sz="125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leading cause of death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World Health Organization (WHO)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04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landscape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76927" y="1880616"/>
            <a:ext cx="3503066" cy="16764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1247" y="2007108"/>
            <a:ext cx="274320" cy="2514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1035295" y="1978152"/>
            <a:ext cx="268010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demand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1247" y="2492502"/>
            <a:ext cx="2954426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and signal volumes climb every year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per patient and growing pressure on specialists.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54313" y="1880616"/>
            <a:ext cx="3503066" cy="16764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8633" y="2007108"/>
            <a:ext cx="274320" cy="2514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812681" y="1978152"/>
            <a:ext cx="268010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matured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633" y="2492502"/>
            <a:ext cx="2954426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now reaches clinically-competitive accuracy on each </a:t>
            </a:r>
            <a:r>
              <a:rPr lang="en-US" sz="135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</a:t>
            </a:r>
            <a:r>
              <a:rPr lang="en-US" sz="135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31699" y="1903476"/>
            <a:ext cx="3503066" cy="16764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06019" y="2029968"/>
            <a:ext cx="274320" cy="25146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90067" y="2001012"/>
            <a:ext cx="268010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brain–heart link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06019" y="2515362"/>
            <a:ext cx="2954426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clinical evidence shows the heart and brain are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,yet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still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05 / 33</a:t>
            </a:r>
            <a:endParaRPr lang="en-US" sz="1300" dirty="0"/>
          </a:p>
        </p:txBody>
      </p:sp>
      <p:sp>
        <p:nvSpPr>
          <p:cNvPr id="41" name="RWhdot"/>
          <p:cNvSpPr/>
          <p:nvPr/>
        </p:nvSpPr>
        <p:spPr>
          <a:xfrm>
            <a:off x="376925" y="3671470"/>
            <a:ext cx="214535" cy="254279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RWhtext"/>
          <p:cNvSpPr/>
          <p:nvPr/>
        </p:nvSpPr>
        <p:spPr>
          <a:xfrm>
            <a:off x="726927" y="3652266"/>
            <a:ext cx="10707838" cy="29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r>
              <a:rPr lang="en-US" sz="1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existing AI is strong per modality, yet every system stays single-modality and standalone.</a:t>
            </a:r>
            <a:endParaRPr lang="en-US" sz="1200" dirty="0"/>
          </a:p>
        </p:txBody>
      </p:sp>
      <p:sp>
        <p:nvSpPr>
          <p:cNvPr id="43" name="RWcard0"/>
          <p:cNvSpPr/>
          <p:nvPr/>
        </p:nvSpPr>
        <p:spPr>
          <a:xfrm>
            <a:off x="376926" y="4005636"/>
            <a:ext cx="2804463" cy="1690958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4" name="RWtxt0"/>
          <p:cNvSpPr/>
          <p:nvPr/>
        </p:nvSpPr>
        <p:spPr>
          <a:xfrm>
            <a:off x="566926" y="4105636"/>
            <a:ext cx="2396847" cy="138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 et al., Nature Med. 2019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Cardiologist-level arrhythmia detection from single-lead ECG.</a:t>
            </a:r>
          </a:p>
        </p:txBody>
      </p:sp>
      <p:sp>
        <p:nvSpPr>
          <p:cNvPr id="45" name="RWcard1"/>
          <p:cNvSpPr/>
          <p:nvPr/>
        </p:nvSpPr>
        <p:spPr>
          <a:xfrm>
            <a:off x="3191385" y="4005636"/>
            <a:ext cx="2804463" cy="1690958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6" name="RWtxt1"/>
          <p:cNvSpPr/>
          <p:nvPr/>
        </p:nvSpPr>
        <p:spPr>
          <a:xfrm>
            <a:off x="3381385" y="4105636"/>
            <a:ext cx="2396847" cy="138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EchoNet-Dynamic, Nature 2020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CNN segments the LV and estimates ejection fraction.</a:t>
            </a:r>
          </a:p>
        </p:txBody>
      </p:sp>
      <p:sp>
        <p:nvSpPr>
          <p:cNvPr id="47" name="RWcard2"/>
          <p:cNvSpPr/>
          <p:nvPr/>
        </p:nvSpPr>
        <p:spPr>
          <a:xfrm>
            <a:off x="6005844" y="4005636"/>
            <a:ext cx="2804463" cy="1690958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8" name="RWtxt2"/>
          <p:cNvSpPr/>
          <p:nvPr/>
        </p:nvSpPr>
        <p:spPr>
          <a:xfrm>
            <a:off x="6195844" y="4105636"/>
            <a:ext cx="2396847" cy="138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nnU-Net, Nature Methods 2021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Self-configuring U-Net; won the BraTS tumor-segmentation challenge.</a:t>
            </a:r>
          </a:p>
        </p:txBody>
      </p:sp>
      <p:sp>
        <p:nvSpPr>
          <p:cNvPr id="49" name="RWcard3"/>
          <p:cNvSpPr/>
          <p:nvPr/>
        </p:nvSpPr>
        <p:spPr>
          <a:xfrm>
            <a:off x="8820303" y="4005636"/>
            <a:ext cx="2804463" cy="1690958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0" name="RWtxt3"/>
          <p:cNvSpPr/>
          <p:nvPr/>
        </p:nvSpPr>
        <p:spPr>
          <a:xfrm>
            <a:off x="9010303" y="4105636"/>
            <a:ext cx="2396847" cy="138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Schirrmeister et al., HBM 2017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ConvNets decode raw EEG end-to-end (Braindecode).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Context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limitations of current diagnostic workflows and the need for integrated, explainable care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manual, single-modality and hard to trust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maps to a concrete objective on the next slide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06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smtClean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problem </a:t>
            </a: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in the current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7736"/>
            <a:ext cx="11057839" cy="670560"/>
          </a:xfrm>
          <a:prstGeom prst="roundRect">
            <a:avLst>
              <a:gd name="adj" fmla="val 1363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62328"/>
            <a:ext cx="274320" cy="3048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752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analysis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98848" y="1752600"/>
            <a:ext cx="685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(ECG/Echo) and neuro (EEG/MRI) signals of the same patient are read in separate systems — no cross-modal view.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465832"/>
            <a:ext cx="11057839" cy="670560"/>
          </a:xfrm>
          <a:prstGeom prst="roundRect">
            <a:avLst>
              <a:gd name="adj" fmla="val 1363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630424"/>
            <a:ext cx="274320" cy="30480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25206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segmentation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520696"/>
            <a:ext cx="685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350" dirty="0" err="1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</a:t>
            </a:r>
            <a:r>
              <a:rPr lang="en-GB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on MRI requires significant time and is subject to </a:t>
            </a:r>
            <a:r>
              <a:rPr lang="en-GB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operator variability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410712"/>
            <a:ext cx="274320" cy="27432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96" y="330098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support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98848" y="3300984"/>
            <a:ext cx="68515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black-box: nothing shows why a result was produced,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 the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959352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123944"/>
            <a:ext cx="274320" cy="2743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296" y="401421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mismatch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98848" y="4014216"/>
            <a:ext cx="68515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exports (DICOM / NIfTI / BrainVision) are not in the format models need.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672584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837176"/>
            <a:ext cx="274320" cy="2743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296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98848" y="4727448"/>
            <a:ext cx="68515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patient history and no combined, cross-modality interpretation.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07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sets out to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8653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ECG, EEG, MRI and Echo under one clinician-facing workflow.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4314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8634" y="1920240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5075834" y="18653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8634" y="23957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segment and classify each modality with deep-learning pipelines.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1701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6021" y="1920240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8853221" y="18653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6021" y="23957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and fine-tune public models to clinically-competitive accuracy, measured honestly.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977640"/>
            <a:ext cx="310896" cy="310896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39227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4531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prediction is transparent and verifiable through Grad-CAM, SHAP, and 3D anatomical visualization.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4314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8634" y="397764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5834" y="39227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8634" y="44531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role-based, assignment-scoped data isolation for medical privacy.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21701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6021" y="3977640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8853221" y="3922776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96021" y="4453128"/>
            <a:ext cx="295442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full-stack system with a combined PDF report and cloud deployment.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08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 </a:t>
            </a:r>
            <a:r>
              <a:rPr lang="en-US" sz="1600" dirty="0" smtClean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four modalities, one patient record.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serves, how they use it, and what it does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· user journey · value · functionalities · planning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09 / 33</a:t>
            </a:r>
            <a:endParaRPr lang="en-US" sz="13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smtClean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NEURACARD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7839" cy="1554480"/>
          </a:xfrm>
          <a:prstGeom prst="roundRect">
            <a:avLst>
              <a:gd name="adj" fmla="val 5294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572768"/>
            <a:ext cx="1032631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 is an AI-powered clinical decision support platform that integrates four medical intelligence modalities into a unified healthcare workflow. The platform enables clinicians to analyze multimodal patient data, including ECG, echocardiography, brain MRI, and clinical information, using specialized deep-learning models. Results are automatically stored in the patient's digital record, interpreted through explainable AI techniques, and </a:t>
            </a:r>
            <a:r>
              <a:rPr lang="en-GB" sz="16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a unified clinical report to facilitate faster and better-informed diagnostic decisions.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429000"/>
            <a:ext cx="525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593592"/>
            <a:ext cx="470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886200"/>
            <a:ext cx="470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Cardiologists, neurologists, radiologists, general doctors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back-office technician.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70168" y="3429000"/>
            <a:ext cx="525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4488" y="3593592"/>
            <a:ext cx="470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44488" y="3886200"/>
            <a:ext cx="470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· 12-lead ECG · echocardiogram video · EEG (.edf) — with a converter for raw clinic formats.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892040"/>
            <a:ext cx="525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5056632"/>
            <a:ext cx="470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5349240"/>
            <a:ext cx="470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classification, EF &amp; HRV, harmful-activity screen, SHAP/Grad-CAM overlays, 3D anatomy, combined PDF.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70168" y="4892040"/>
            <a:ext cx="5254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44488" y="5056632"/>
            <a:ext cx="470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5349240"/>
            <a:ext cx="470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and explainable healthcare platform that streamlines clinical workflows.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NEURACARD, and how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6248" y="196596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5262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046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assigned patients, runs analyses, reads explainable results and the 3D anatomy, generates the combined report.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99968" y="169164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9288" y="1965960"/>
            <a:ext cx="640080" cy="64008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2" name="Text 10"/>
          <p:cNvSpPr/>
          <p:nvPr/>
        </p:nvSpPr>
        <p:spPr>
          <a:xfrm>
            <a:off x="435928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2848" y="278892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82848" y="315468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6000" y="3611880"/>
            <a:ext cx="2046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intake, converts raw clinic files to model-ready formats, and assigns each patient to the right doctor(s).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33008" y="169164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2328" y="1965960"/>
            <a:ext cx="640080" cy="6400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719232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15888" y="278892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5888" y="315468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89040" y="3611880"/>
            <a:ext cx="2046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earlier, integrated screening across heart and brain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clearer, explained result.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66047" y="1691640"/>
            <a:ext cx="2558720" cy="3931920"/>
          </a:xfrm>
          <a:prstGeom prst="roundRect">
            <a:avLst>
              <a:gd name="adj" fmla="val 321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25367" y="1965960"/>
            <a:ext cx="640080" cy="64008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25367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48927" y="278892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/ admin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48927" y="315468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2079" y="3611880"/>
            <a:ext cx="2046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 err="1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dises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raises throughput, keeps data on-premises, and builds a future-ready data asset.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VALUE · USERS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for </a:t>
            </a:r>
            <a:r>
              <a:rPr lang="en-US" sz="2900" b="1" dirty="0" smtClean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Professionals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01952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8470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four modalities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switching between separate cardiology and neurology tools.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4314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8634" y="1901952"/>
            <a:ext cx="274320" cy="2743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5002682" y="18470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8634" y="23957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inference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 queue between upload and result.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1701" y="16459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6021" y="1901952"/>
            <a:ext cx="274320" cy="2743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8780069" y="18470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future-ready data asset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96021" y="23957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Paired, same-patient multimodal data accrues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cross-modal prediction.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959352"/>
            <a:ext cx="274320" cy="27432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96" y="39044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results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4531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Grad-CAM and a 3D organ show why each result was produced.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4314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8634" y="3959352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002682" y="39044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8634" y="44531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a patient's analyses in one record, plus one combined report.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21701" y="3703320"/>
            <a:ext cx="3503066" cy="1828800"/>
          </a:xfrm>
          <a:prstGeom prst="roundRect">
            <a:avLst>
              <a:gd name="adj" fmla="val 45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6021" y="3959352"/>
            <a:ext cx="274320" cy="2743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8780069" y="3904488"/>
            <a:ext cx="26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96021" y="4453128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auditable decision support </a:t>
            </a:r>
            <a:endParaRPr lang="en-US" sz="135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diagnosis.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FUNCTIONALITIES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 &amp; intake (1 / 2)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566928" y="1609344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883664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810512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249424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Assignment-scoped CRUD with a per-patient history view.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70168" y="1554480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44488" y="1828800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7101688" y="1755648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conversion (technician)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194560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DICOM/NIfTI/BrainVision/video → model-ready PNG/CSV/MP4/EDF.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70168" y="3054096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44488" y="3328416"/>
            <a:ext cx="310896" cy="310896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7101688" y="3255264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tumour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4488" y="3694176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segmentation + Swin-T 4-class type with confidence.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462272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73659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4663440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arrhythmia screening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5102352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pathologies + HRV metrics from the raw 12-lead signal.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70168" y="4462272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44488" y="4736592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7101688" y="4663440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Echocardiography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44488" y="5102352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 + LV segmentation with a clinical category.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13 / 33</a:t>
            </a:r>
            <a:endParaRPr lang="en-US" sz="1300" dirty="0"/>
          </a:p>
        </p:txBody>
      </p:sp>
      <p:sp>
        <p:nvSpPr>
          <p:cNvPr id="30" name="Shape 2"/>
          <p:cNvSpPr/>
          <p:nvPr/>
        </p:nvSpPr>
        <p:spPr>
          <a:xfrm>
            <a:off x="566928" y="3017520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1" name="Shape 3"/>
          <p:cNvSpPr/>
          <p:nvPr/>
        </p:nvSpPr>
        <p:spPr>
          <a:xfrm>
            <a:off x="841248" y="329184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4"/>
          <p:cNvSpPr/>
          <p:nvPr/>
        </p:nvSpPr>
        <p:spPr>
          <a:xfrm>
            <a:off x="1298448" y="3218688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harmful-activity screen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841248" y="3657600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IIIC over 10-second windows with a harmful flag.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FUNCTIONALITIES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output (2 / 2)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359152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286000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 ×4)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for all four models; per-lead/channel/frame importance.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70167" y="2084832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44487" y="2359152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7101687" y="2286000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anatomy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7" y="2724912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brain/heart that glows the structure each finding implicates.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124048" y="3822192"/>
            <a:ext cx="5254600" cy="1207008"/>
          </a:xfrm>
          <a:prstGeom prst="roundRect">
            <a:avLst>
              <a:gd name="adj" fmla="val 6818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98368" y="4096512"/>
            <a:ext cx="310896" cy="310896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18" name="Text 16"/>
          <p:cNvSpPr/>
          <p:nvPr/>
        </p:nvSpPr>
        <p:spPr>
          <a:xfrm>
            <a:off x="3855568" y="4023360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PDF report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98368" y="4462272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ReportLab document with a rule-based interpretation.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14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architecture, the technology stack, and a walkthrough of the running platform.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modality-agnostic, doctor-isolated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Django + MongoDB · cloud-deployed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4041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760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live screens follow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15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data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556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75888" y="1764792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· Redux Toolkit · react-three-fiber 3D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75888" y="2121408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Patients · MRI · ECG · Echo · EEG · Reports · Convert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12968" y="2414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834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5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75888" y="2843784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3.2 · DRF · SimpleJWT — role-based, assignment-scoped 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75888" y="3200400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patients · modality views · conversion · reports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12968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39136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MODULE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75888" y="3922776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singleton model loader · synchronous inference · explainers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5888" y="4279392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· Swin-T · 7× DenseNet-1D · EchoNet · BIOT · Grad-CAM · SHAP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12968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882896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992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/ STORAGE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75888" y="5001768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artefacts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75888" y="5358384"/>
            <a:ext cx="7674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(djongo) · torch / HF weight cache · media/ (overlays · PDFs)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16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MRI &amp; ECG — from input to result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624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Swin-T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1874520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207568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62432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 brain scan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92819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3715" y="1874520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6867" y="207568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76867" y="262432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mask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00806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1702" y="1874520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4854" y="207568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84854" y="262432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of tumour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08793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19689" y="1874520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2841" y="207568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92841" y="262432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type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16780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27676" y="1874520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00828" y="207568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100828" y="2624328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Grad-CAM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005072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4187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58368" y="4754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DenseNet-1D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95728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68880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468880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per-lead norm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92819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303715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76867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DenseNet-1D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376867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00806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211702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84854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84854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08793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8119689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192841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NeuroKit2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192841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metrics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716780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10027676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100828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100828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findings + plot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17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&amp; EEG — from input to result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C77D2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624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 + R(2+1)D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1874520"/>
            <a:ext cx="2074088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207568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62432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112² · 32-frame clips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69816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80712" y="1874520"/>
            <a:ext cx="2074088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3864" y="207568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53864" y="262432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segmentation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4800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165696" y="1874520"/>
            <a:ext cx="2074088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8848" y="207568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R(2+1)D-18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38848" y="262432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regression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39783" y="187452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50679" y="1874520"/>
            <a:ext cx="2074088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23831" y="207568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23831" y="2624328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% + LV mask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005072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6E5FD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187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8368" y="4754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 + IIIC head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95728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68880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.edf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468880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16-ch @ 200 Hz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92819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303715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76867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76867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tokens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00806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211702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84854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84854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08793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119689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92841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IIIC head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192841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716780" y="4005072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0027676" y="4005072"/>
            <a:ext cx="1597091" cy="1417320"/>
          </a:xfrm>
          <a:prstGeom prst="roundRect">
            <a:avLst>
              <a:gd name="adj" fmla="val 580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100828" y="420624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100828" y="4754880"/>
            <a:ext cx="14507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flag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18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LIBRARIES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54600" cy="1965960"/>
          </a:xfrm>
          <a:prstGeom prst="roundRect">
            <a:avLst>
              <a:gd name="adj" fmla="val 418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4767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11096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" y="246888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46888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16582" y="24688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6582" y="246888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5418" y="246888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5418" y="24688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94099" y="246888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4099" y="246888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" y="2926080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92608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react-three-fiber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91410" y="2926080"/>
            <a:ext cx="69951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1410" y="2926080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05226" y="2926080"/>
            <a:ext cx="8549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5226" y="2926080"/>
            <a:ext cx="85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70168" y="1691640"/>
            <a:ext cx="5254600" cy="1965960"/>
          </a:xfrm>
          <a:prstGeom prst="roundRect">
            <a:avLst>
              <a:gd name="adj" fmla="val 418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44488" y="1947672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3" name="Text 21"/>
          <p:cNvSpPr/>
          <p:nvPr/>
        </p:nvSpPr>
        <p:spPr>
          <a:xfrm>
            <a:off x="7083400" y="1911096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81064" y="2468880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1064" y="246888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3.2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9784" y="2468880"/>
            <a:ext cx="19431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9784" y="2468880"/>
            <a:ext cx="1943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83292" y="2468880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3292" y="246888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81064" y="29260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81064" y="29260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djongo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69860" y="2926080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69860" y="292608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3600" y="292608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E5F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3600" y="292608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3931920"/>
            <a:ext cx="5254600" cy="1965960"/>
          </a:xfrm>
          <a:prstGeom prst="roundRect">
            <a:avLst>
              <a:gd name="adj" fmla="val 418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" y="4187952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8" name="Text 36"/>
          <p:cNvSpPr/>
          <p:nvPr/>
        </p:nvSpPr>
        <p:spPr>
          <a:xfrm>
            <a:off x="1280160" y="4151376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7824" y="4709160"/>
            <a:ext cx="8549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709160"/>
            <a:ext cx="8549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41602" y="4709160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1602" y="4709160"/>
            <a:ext cx="1165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05302" y="470916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5302" y="47091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77824" y="516636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" y="516636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Captum (SHAP)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91486" y="5166360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91486" y="5166360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NeuroKit2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405226" y="51663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5226" y="51663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ecglib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94022" y="516636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4022" y="516636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77824" y="5623560"/>
            <a:ext cx="20985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" y="5623560"/>
            <a:ext cx="20985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 · pydicom · nibabel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70168" y="3931920"/>
            <a:ext cx="5254600" cy="1965960"/>
          </a:xfrm>
          <a:prstGeom prst="roundRect">
            <a:avLst>
              <a:gd name="adj" fmla="val 4186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644488" y="4187952"/>
            <a:ext cx="310896" cy="310896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57" name="Text 55"/>
          <p:cNvSpPr/>
          <p:nvPr/>
        </p:nvSpPr>
        <p:spPr>
          <a:xfrm>
            <a:off x="7083400" y="4151376"/>
            <a:ext cx="434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Deploy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681064" y="470916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D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81064" y="470916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094726" y="4709160"/>
            <a:ext cx="17876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D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4726" y="4709160"/>
            <a:ext cx="1787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958273" y="47091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D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58273" y="47091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681064" y="51663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D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81064" y="51663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569860" y="5166360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D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69860" y="516636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7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19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· DOCTOR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dashboard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63624"/>
            <a:ext cx="7095744" cy="3183233"/>
          </a:xfrm>
          <a:prstGeom prst="roundRect">
            <a:avLst>
              <a:gd name="adj" fmla="val 1724"/>
            </a:avLst>
          </a:prstGeom>
          <a:solidFill>
            <a:srgbClr val="0E2B29"/>
          </a:solidFill>
          <a:ln w="12700">
            <a:solidFill>
              <a:srgbClr val="24524C"/>
            </a:solidFill>
            <a:prstDash val="solid"/>
          </a:ln>
          <a:effectLst>
            <a:outerShdw blurRad="114300" dist="38100" dir="5400000" algn="bl" rotWithShape="0">
              <a:srgbClr val="15403B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6967728" cy="30552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829153"/>
            <a:ext cx="6967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doctor's home after login — assigned patients, recent activity and quick actions.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882128" y="1709928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91856" y="181965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8339328" y="1664208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caseload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39328" y="2011680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sees only the patients assigned to them.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82128" y="2770632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91856" y="288036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8339328" y="2724912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39328" y="3072384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analyses with status badges and findings.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82128" y="3831336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91856" y="394106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3785616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39328" y="4133088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patient, or jump straight to any modality.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20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· TECHNICIAN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 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63624"/>
            <a:ext cx="7095744" cy="3049373"/>
          </a:xfrm>
          <a:prstGeom prst="roundRect">
            <a:avLst>
              <a:gd name="adj" fmla="val 1799"/>
            </a:avLst>
          </a:prstGeom>
          <a:solidFill>
            <a:srgbClr val="0E2B29"/>
          </a:solidFill>
          <a:ln w="12700">
            <a:solidFill>
              <a:srgbClr val="24524C"/>
            </a:solidFill>
            <a:prstDash val="solid"/>
          </a:ln>
          <a:effectLst>
            <a:outerShdw blurRad="114300" dist="38100" dir="5400000" algn="bl" rotWithShape="0">
              <a:srgbClr val="15403B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6967728" cy="29213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695293"/>
            <a:ext cx="6967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back-office technician sees every patient and the doctors they are assigned to.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882128" y="1709928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91856" y="181965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8339328" y="1664208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patients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39328" y="2011680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role for intake and routing across the hospital.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82128" y="2770632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91856" y="288036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8339328" y="2724912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column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39328" y="3072384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is routed to one or more doctors.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82128" y="3831336"/>
            <a:ext cx="310896" cy="310896"/>
          </a:xfrm>
          <a:prstGeom prst="ellipse">
            <a:avLst/>
          </a:prstGeom>
          <a:solidFill>
            <a:srgbClr val="E6F2F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91856" y="394106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3785616"/>
            <a:ext cx="3285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intake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39328" y="4133088"/>
            <a:ext cx="3285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data-conversion tool and patient assignment.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21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· training pipeline · metrics · confusion · explainability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95.4% · ECG F1 0.777 · Echo MAE 4.01% · EEG 0.47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22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public benchmarks, one per modality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49808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465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15400" y="1783080"/>
            <a:ext cx="2709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FINE-TUNE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112264"/>
            <a:ext cx="11057839" cy="713232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1226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Brain-Tumour MRI · ~7,000 img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2112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21122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Tumour-type 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15400" y="2112264"/>
            <a:ext cx="27093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· 80.4 → 95.4%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8254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LGG MRI Segmentation · 3,929 slices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0" y="282549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82549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segmentation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15400" y="2825496"/>
            <a:ext cx="27093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released · bug-fixed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538728"/>
            <a:ext cx="11057839" cy="713232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387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PTB-XL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35387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DenseNet-1D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53872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Arrhythmia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15400" y="3538728"/>
            <a:ext cx="27093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+ 6/7 fine-tuned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2519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EchoNet-Dynamic · </a:t>
            </a:r>
            <a:r>
              <a:rPr lang="en-US" sz="1150" b="1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0" y="4251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 + R(2+1)D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2519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+ LV segmentation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15400" y="4251960"/>
            <a:ext cx="27093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released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965192"/>
            <a:ext cx="11057839" cy="713232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9651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HMS · patient split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49651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 + IIIC head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49651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Harmful-activity screen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15400" y="4965192"/>
            <a:ext cx="27093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5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IIIC head trained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are public · validated on held-out splits (ECG thresholds tuned on fold 9, tested on fold 10; EEG split by patient). Teal = fine-tuned · violet = trained in-repo · grey = used as released.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per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49808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89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112264"/>
            <a:ext cx="11057839" cy="749808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68296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11226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· type (Swin-T)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211226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0" y="2112264"/>
            <a:ext cx="3760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0.954 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808" y="3118104"/>
            <a:ext cx="237744" cy="237744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28620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· segmentation (U-Net)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8620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0" y="286207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5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0" y="2862072"/>
            <a:ext cx="3760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0.78–0.80 ·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611880"/>
            <a:ext cx="11057839" cy="749808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67912"/>
            <a:ext cx="237744" cy="23774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36118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· 7× DenseNet-1D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6118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26480" y="36118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63840" y="3611880"/>
            <a:ext cx="3760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0.981 · bal-acc 0.896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9808" y="4617720"/>
            <a:ext cx="237744" cy="237744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568" y="436168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· EchoNet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436168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MAE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26480" y="43616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4.01%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863840" y="4361688"/>
            <a:ext cx="3760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0.831 · LV Dice 0.897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5111496"/>
            <a:ext cx="11057839" cy="749808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5367528"/>
            <a:ext cx="237744" cy="237744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32" name="Text 30"/>
          <p:cNvSpPr/>
          <p:nvPr/>
        </p:nvSpPr>
        <p:spPr>
          <a:xfrm>
            <a:off x="1115568" y="511149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· BIOT + IIIC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51114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26480" y="511149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5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63840" y="5111496"/>
            <a:ext cx="3760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recall 0.949 · chance 0.167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6928" y="59710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24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 result can be questioned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203704"/>
            <a:ext cx="3503066" cy="2651760"/>
          </a:xfrm>
          <a:prstGeom prst="roundRect">
            <a:avLst>
              <a:gd name="adj" fmla="val 3103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478024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090672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547872"/>
            <a:ext cx="29178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the Swin final LayerNorm and folds tokens back to a spatial grid — a heatmap of where the classifier looked.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4314" y="2203704"/>
            <a:ext cx="3503066" cy="2651760"/>
          </a:xfrm>
          <a:prstGeom prst="roundRect">
            <a:avLst>
              <a:gd name="adj" fmla="val 3103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6922" y="2478024"/>
            <a:ext cx="502920" cy="5029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4636922" y="3090672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(×4)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6922" y="3547872"/>
            <a:ext cx="29178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Captum GradientShap on all four models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plus per-lead (ECG), per-channel (EEG) and per-frame (Echo) importance.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1701" y="2203704"/>
            <a:ext cx="3503066" cy="2651760"/>
          </a:xfrm>
          <a:prstGeom prst="roundRect">
            <a:avLst>
              <a:gd name="adj" fmla="val 3103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4309" y="2478024"/>
            <a:ext cx="502920" cy="5029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4309" y="3090672"/>
            <a:ext cx="29178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4309" y="3547872"/>
            <a:ext cx="29178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↔ SHAP agreement, peak-in-mask localization and a deletion causal test quantify the explanations.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25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Future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validated prototype to a venture — and the data-driven moat behind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97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· market opportunity · perspectives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vision: cross-modal brain–heart prediction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26 / 33</a:t>
            </a:r>
            <a:endParaRPr lang="en-US" sz="13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182880" cy="18288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9222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9456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(Gecos, </a:t>
            </a:r>
            <a:r>
              <a:rPr lang="en-US" sz="1400" dirty="0" err="1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AlgérieTélécom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medical-equipment distributors.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CDTA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CERIST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4314" y="164592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0346" y="1883664"/>
            <a:ext cx="182880" cy="18288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954" y="179222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8634" y="219456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R&amp;D (missing-modality robust)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medical-device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· cybersecurity &amp; encryption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1701" y="164592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7733" y="188366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670341" y="179222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6021" y="219456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prognosis — cross-modal, months ahead · cost optimization · preventative care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392424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30098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70332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co-development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medical-grade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(99.9%)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explainable-AI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 / Grad-CAM) portals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4314" y="315468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0346" y="3392424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954" y="330098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8634" y="370332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diagnostic &amp; radiology centres (B2B)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CHUs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public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 &amp; universities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1701" y="315468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7733" y="3392424"/>
            <a:ext cx="182880" cy="18288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6" name="Text 24"/>
          <p:cNvSpPr/>
          <p:nvPr/>
        </p:nvSpPr>
        <p:spPr>
          <a:xfrm>
            <a:off x="8670341" y="330098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6021" y="370332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/ H100 GPU clusters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scientists &amp; DICOM engineers · medical director + legal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datasets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66344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90118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1115568" y="480974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521208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PACS / DICOM integration · medical scientific societies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advocacy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26026" y="4663439"/>
            <a:ext cx="3503066" cy="1418383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0346" y="4901184"/>
            <a:ext cx="182880" cy="18288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954" y="480974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91786" y="5337544"/>
            <a:ext cx="2664668" cy="46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payroll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·GPU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&amp; annotation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legal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1701" y="4663440"/>
            <a:ext cx="3503066" cy="1325880"/>
          </a:xfrm>
          <a:prstGeom prst="roundRect">
            <a:avLst>
              <a:gd name="adj" fmla="val 6207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77733" y="490118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8670341" y="4809744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96021" y="5212080"/>
            <a:ext cx="295442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· </a:t>
            </a:r>
            <a:endParaRPr lang="en-US" sz="1400" dirty="0" smtClean="0">
              <a:solidFill>
                <a:srgbClr val="3B475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public-CHU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</a:t>
            </a: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setup fees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27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·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hybrid </a:t>
            </a:r>
            <a:r>
              <a:rPr lang="en-US" sz="2900" b="1" dirty="0" smtClean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</a:t>
            </a: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Algerian hospitals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439912" cy="4114800"/>
          </a:xfrm>
          <a:prstGeom prst="roundRect">
            <a:avLst>
              <a:gd name="adj" fmla="val 2000"/>
            </a:avLst>
          </a:prstGeom>
          <a:solidFill>
            <a:srgbClr val="0E2B29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2194560"/>
            <a:ext cx="7205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Algerian hospitals will not let patient data leave their walls </a:t>
            </a:r>
            <a:r>
              <a:rPr lang="en-US" dirty="0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cloud-SaaS model is nearly impossible for public </a:t>
            </a:r>
            <a:r>
              <a:rPr lang="en-US" dirty="0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2688" y="3291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Hybrid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32688" y="3886200"/>
            <a:ext cx="6391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run on a secured server inside the hospital's own data room </a:t>
            </a:r>
            <a:r>
              <a:rPr lang="en-US" dirty="0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the whole business is built around.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2688" y="4892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28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· FINANCIALS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1–2 projection (Algerian Dinar)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12080" cy="3429000"/>
          </a:xfrm>
          <a:prstGeom prst="roundRect">
            <a:avLst>
              <a:gd name="adj" fmla="val 24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· 5 centres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07408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 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6968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licensing · 20 clinics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07408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 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maintenance · 3 pilots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07408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 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6968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setup · 25 sites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 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6968" y="4160520"/>
            <a:ext cx="457200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233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07408" y="4215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26.25 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07608" y="1691640"/>
            <a:ext cx="5212080" cy="3429000"/>
          </a:xfrm>
          <a:prstGeom prst="roundRect">
            <a:avLst>
              <a:gd name="adj" fmla="val 24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High-tier tech payroll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48088" y="22860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11.50 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2688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 &amp; servers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48088" y="2688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4.50 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&amp; annotation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48088" y="3090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 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48088" y="3493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 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3895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marketing &amp; events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48088" y="38953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 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27648" y="4315968"/>
            <a:ext cx="4572000" cy="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4389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48088" y="43708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23.50 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" y="5230368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0E2B29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2688" y="523036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NET SURPLUS  ·  YEAR 1–2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01407" y="52303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+ 2.75 M DZD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29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NEURACARD goes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1097280"/>
          </a:xfrm>
          <a:prstGeom prst="roundRect">
            <a:avLst>
              <a:gd name="adj" fmla="val 7500"/>
            </a:avLst>
          </a:prstGeom>
          <a:solidFill>
            <a:srgbClr val="0E2B29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5564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goal </a:t>
            </a:r>
            <a:r>
              <a:rPr lang="en-US" b="1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</a:t>
            </a:r>
            <a:r>
              <a:rPr lang="en-US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paired, same-patient data the platform collects to train a model that predicts brain tumours from cardiac signals, and heart disease from brain imaging ,</a:t>
            </a:r>
            <a:r>
              <a:rPr lang="en-US" sz="1600" dirty="0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operationalising</a:t>
            </a:r>
            <a:r>
              <a:rPr lang="en-US" sz="1600" dirty="0" smtClean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brain–heart axis.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0577" y="3163824"/>
            <a:ext cx="3856630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00173" y="3401568"/>
            <a:ext cx="274320" cy="2743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9" name="Text 7"/>
          <p:cNvSpPr/>
          <p:nvPr/>
        </p:nvSpPr>
        <p:spPr>
          <a:xfrm>
            <a:off x="2684221" y="3328416"/>
            <a:ext cx="2680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multimodal fusion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18461" y="3785616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rule-based report with a model that learns cross-modal correlations.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21527" y="3163824"/>
            <a:ext cx="4024222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77559" y="3401568"/>
            <a:ext cx="274320" cy="2743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7" y="3328416"/>
            <a:ext cx="2680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modalities &amp; diseases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5847" y="3785616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CT, PET and further pathologies behind the same plug-in contract.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690577" y="4736592"/>
            <a:ext cx="3856630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00173" y="4974336"/>
            <a:ext cx="274320" cy="27432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1" name="Text 19"/>
          <p:cNvSpPr/>
          <p:nvPr/>
        </p:nvSpPr>
        <p:spPr>
          <a:xfrm>
            <a:off x="2684221" y="4901184"/>
            <a:ext cx="2680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Federated, multi-hospital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318461" y="5358384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sites without moving data — privacy by design.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821527" y="4736592"/>
            <a:ext cx="4024222" cy="1371600"/>
          </a:xfrm>
          <a:prstGeom prst="roundRect">
            <a:avLst>
              <a:gd name="adj" fmla="val 60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7559" y="4974336"/>
            <a:ext cx="274320" cy="274320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61607" y="4901184"/>
            <a:ext cx="2680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multilingual reports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95847" y="5358384"/>
            <a:ext cx="2954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app; reports in Arabic, French and English.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30 / 33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 smtClean="0">
                <a:solidFill>
                  <a:srgbClr val="103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1600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</a:t>
            </a:r>
            <a:r>
              <a:rPr lang="en-US" sz="1400" b="1" kern="0" spc="500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136392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581988" y="501091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616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188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276088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31 / 33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45024574"/>
      </p:ext>
    </p:extLst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delivers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7839" cy="1143000"/>
          </a:xfrm>
          <a:prstGeom prst="roundRect">
            <a:avLst>
              <a:gd name="adj" fmla="val 7200"/>
            </a:avLst>
          </a:prstGeom>
          <a:solidFill>
            <a:srgbClr val="F1F7F6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00200"/>
            <a:ext cx="103263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 delivers one integrated, explainable and honestly-measured platform that unifies four medical modalities </a:t>
            </a:r>
            <a:r>
              <a:rPr lang="en-US" sz="150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ECG</a:t>
            </a:r>
            <a:r>
              <a:rPr lang="en-US" sz="15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EEG, MRI and echocardiography </a:t>
            </a:r>
            <a:r>
              <a:rPr lang="en-US" sz="1500" dirty="0" smtClean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500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doctor-isolated clinical workflow, from upload to a combined report.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350306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315468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118104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611880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public models measured, calibrated and fine-tuned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95.4%, ECG F1 0.777, Echo MAE 4.01%,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4314" y="2926080"/>
            <a:ext cx="350306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8634" y="3154680"/>
            <a:ext cx="310896" cy="310896"/>
          </a:xfrm>
          <a:prstGeom prst="ellipse">
            <a:avLst/>
          </a:prstGeom>
          <a:solidFill>
            <a:srgbClr val="6E5F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57546" y="3118104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8634" y="3611880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role-based system with SHAP explainability across all four models, 3D anatomy and a combined PDF report.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1701" y="2926080"/>
            <a:ext cx="350306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6021" y="3154680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6" name="Text 14"/>
          <p:cNvSpPr/>
          <p:nvPr/>
        </p:nvSpPr>
        <p:spPr>
          <a:xfrm>
            <a:off x="8834933" y="3118104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6021" y="3611880"/>
            <a:ext cx="29544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from held-out public data, with limitations stated openly </a:t>
            </a:r>
            <a:r>
              <a:rPr lang="en-US" sz="1350" dirty="0" smtClean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with a human in the loop.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84632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0E2B29"/>
          </a:solidFill>
          <a:ln w="12700">
            <a:solidFill>
              <a:srgbClr val="DCE7E5"/>
            </a:solidFill>
            <a:prstDash val="solid"/>
          </a:ln>
          <a:effectLst>
            <a:outerShdw blurRad="88900" dist="25400" dir="5400000" algn="bl" rotWithShape="0">
              <a:srgbClr val="244A4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" y="4846320"/>
            <a:ext cx="103263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ambition is to deploy NEURACARD across Algerian hospitals </a:t>
            </a:r>
            <a:r>
              <a:rPr lang="en-US" sz="1450" i="1" dirty="0" smtClean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</a:t>
            </a:r>
            <a:r>
              <a:rPr lang="en-US" sz="1450" i="1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on-premises </a:t>
            </a:r>
            <a:r>
              <a:rPr lang="en-US" sz="1450" i="1" dirty="0" smtClean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50" i="1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 paired, same-patient data it collects to build the first model that predicts across the brain–heart </a:t>
            </a:r>
            <a:r>
              <a:rPr lang="en-US" sz="1450" i="1" dirty="0" smtClean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and more.”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52767" y="6400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NEURACARD</a:t>
            </a:r>
            <a:r>
              <a:rPr lang="en-US" sz="1300" b="1" dirty="0">
                <a:solidFill>
                  <a:srgbClr val="3B4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32 / 33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0363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0175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4114800"/>
            <a:ext cx="5029200" cy="0"/>
          </a:xfrm>
          <a:prstGeom prst="line">
            <a:avLst/>
          </a:prstGeom>
          <a:noFill/>
          <a:ln w="12700">
            <a:solidFill>
              <a:srgbClr val="2C4D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297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RAMOUL Mazen</a:t>
            </a:r>
            <a:r>
              <a:rPr lang="en-US" sz="140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mazen.ramoul@univ-constantine2.dz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663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sincere thanks to Pr. DERDOUR Makhlouf &amp; Pr. TALBI Hichem, and to the jury.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Abdelhamid Mehri — Constantine 2 · Faculty of NTIC · June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2878</Words>
  <Application>Microsoft Office PowerPoint</Application>
  <PresentationFormat>Grand écran</PresentationFormat>
  <Paragraphs>588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NEURACARD — PFE Defense</dc:title>
  <dc:subject>PptxGenJS Presentation</dc:subject>
  <dc:creator>RAMOUL Mazen</dc:creator>
  <cp:lastModifiedBy>Compte Microsoft</cp:lastModifiedBy>
  <cp:revision>47</cp:revision>
  <dcterms:created xsi:type="dcterms:W3CDTF">2026-06-21T08:36:25Z</dcterms:created>
  <dcterms:modified xsi:type="dcterms:W3CDTF">2026-06-21T13:54:20Z</dcterms:modified>
</cp:coreProperties>
</file>