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lmarai Bold" panose="020B0604020202020204" charset="-78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Arimo" panose="020B0604020202020204" charset="0"/>
      <p:regular r:id="rId22"/>
    </p:embeddedFont>
    <p:embeddedFont>
      <p:font typeface="Almarai" panose="020B0604020202020204" charset="-78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E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1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7.sv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1911021" y="6623165"/>
            <a:ext cx="2564685" cy="3663835"/>
            <a:chOff x="0" y="0"/>
            <a:chExt cx="4445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 cstate="print"/>
              <a:stretch>
                <a:fillRect l="-201730" r="-20173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808588" y="-174145"/>
            <a:ext cx="1683983" cy="2405689"/>
            <a:chOff x="0" y="0"/>
            <a:chExt cx="4445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 cstate="print"/>
              <a:stretch>
                <a:fillRect l="-201730" r="-2017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2597814" y="3885708"/>
            <a:ext cx="841991" cy="84199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126211" r="-12621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-5976625" y="4306703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5534575" y="6279657"/>
            <a:ext cx="2606979" cy="260697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8224" r="-822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42900" y="3273163"/>
            <a:ext cx="10134937" cy="1469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PITCH DECK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138" y="4747835"/>
            <a:ext cx="13582872" cy="293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INNOVATIVE PROJECT PRESENTATION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250737" y="4875550"/>
            <a:ext cx="7594311" cy="75943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r="-12621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322431" y="0"/>
            <a:ext cx="1373277" cy="137327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219" r="-1219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8077793" y="2846813"/>
            <a:ext cx="3007230" cy="1880886"/>
          </a:xfrm>
          <a:custGeom>
            <a:avLst/>
            <a:gdLst/>
            <a:ahLst/>
            <a:cxnLst/>
            <a:rect l="l" t="t" r="r" b="b"/>
            <a:pathLst>
              <a:path w="3007230" h="1880886">
                <a:moveTo>
                  <a:pt x="0" y="0"/>
                </a:moveTo>
                <a:lnTo>
                  <a:pt x="3007230" y="0"/>
                </a:lnTo>
                <a:lnTo>
                  <a:pt x="3007230" y="1880886"/>
                </a:lnTo>
                <a:lnTo>
                  <a:pt x="0" y="1880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134600" y="9271287"/>
            <a:ext cx="10799950" cy="153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NATIONAL COMMITTEE FOR THE LABELING</a:t>
            </a:r>
          </a:p>
          <a:p>
            <a:pPr algn="l">
              <a:lnSpc>
                <a:spcPts val="1679"/>
              </a:lnSpc>
            </a:pPr>
            <a:r>
              <a:rPr lang="en-US" sz="1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OF INNOVATIVE PROJECTS, STARTUPS AND INCUBATORS</a:t>
            </a:r>
          </a:p>
          <a:p>
            <a:pPr algn="l">
              <a:lnSpc>
                <a:spcPts val="3479"/>
              </a:lnSpc>
            </a:pPr>
            <a:endParaRPr dirty="0"/>
          </a:p>
          <a:p>
            <a:pPr marL="0" lvl="0" indent="0" algn="l">
              <a:lnSpc>
                <a:spcPts val="34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9" name="TextBox 19"/>
          <p:cNvSpPr txBox="1"/>
          <p:nvPr/>
        </p:nvSpPr>
        <p:spPr>
          <a:xfrm>
            <a:off x="2985539" y="1502835"/>
            <a:ext cx="13191738" cy="163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348" spc="359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Ministry of the Knowledge Economy, Startups and Micro-enterprises</a:t>
            </a:r>
          </a:p>
          <a:p>
            <a:pPr algn="l">
              <a:lnSpc>
                <a:spcPts val="2889"/>
              </a:lnSpc>
            </a:pPr>
            <a:endParaRPr dirty="0"/>
          </a:p>
          <a:p>
            <a:pPr algn="l">
              <a:lnSpc>
                <a:spcPts val="1394"/>
              </a:lnSpc>
            </a:pPr>
            <a:endParaRPr dirty="0"/>
          </a:p>
          <a:p>
            <a:pPr algn="l">
              <a:lnSpc>
                <a:spcPts val="2889"/>
              </a:lnSpc>
            </a:pPr>
            <a:endParaRPr dirty="0"/>
          </a:p>
          <a:p>
            <a:pPr marL="0" lvl="0" indent="0" algn="l">
              <a:lnSpc>
                <a:spcPts val="2889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0" y="865584"/>
            <a:ext cx="107605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GENERAL PRESENTATION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983" y="751284"/>
            <a:ext cx="1456246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6150" y="2283348"/>
            <a:ext cx="14302820" cy="8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PROJECT TITLE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/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971035" y="4309625"/>
            <a:ext cx="518653" cy="403322"/>
            <a:chOff x="0" y="0"/>
            <a:chExt cx="812800" cy="6320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46150" y="4280535"/>
            <a:ext cx="14302820" cy="8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PROJECT LOGO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/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971035" y="6485259"/>
            <a:ext cx="518653" cy="403322"/>
            <a:chOff x="0" y="0"/>
            <a:chExt cx="812800" cy="6320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46150" y="6456168"/>
            <a:ext cx="14302820" cy="42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SUBTITLE OR TAGLINE (OPTIONAL)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46150" y="3059635"/>
            <a:ext cx="783729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sz="4000" dirty="0" err="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NeuraCard</a:t>
            </a:r>
            <a:endParaRPr lang="en-US" sz="40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30361" y="7231996"/>
            <a:ext cx="12289103" cy="55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Bef>
                <a:spcPct val="0"/>
              </a:spcBef>
            </a:pPr>
            <a:r>
              <a:rPr sz="2200" b="1">
                <a:solidFill>
                  <a:srgbClr val="FFFBFB"/>
                </a:solidFill>
                <a:latin typeface="Almarai Bold"/>
              </a:rPr>
              <a:t>All of a patient's tests, together in one clear, explainable platform.</a:t>
            </a:r>
          </a:p>
        </p:txBody>
      </p:sp>
      <p:pic>
        <p:nvPicPr>
          <p:cNvPr id="34" name="slide2_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3223" y="4768591"/>
            <a:ext cx="2147744" cy="1761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0" y="865584"/>
            <a:ext cx="107605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GENERAL PRESENTATION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983" y="751284"/>
            <a:ext cx="1456246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6150" y="2283348"/>
            <a:ext cx="14302820" cy="8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8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CONTACT INFORMATION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 sz="2000" dirty="0"/>
          </a:p>
        </p:txBody>
      </p:sp>
      <p:sp>
        <p:nvSpPr>
          <p:cNvPr id="23" name="TextBox 23"/>
          <p:cNvSpPr txBox="1"/>
          <p:nvPr/>
        </p:nvSpPr>
        <p:spPr>
          <a:xfrm>
            <a:off x="1746150" y="3059635"/>
            <a:ext cx="13329798" cy="360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Name(s) of the manager(s):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Ramoul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Mazen</a:t>
            </a:r>
            <a:endParaRPr lang="en-US" sz="2600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Position: Master's PFE student, Project lead &amp; sole developer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Email: mazen.ramoul@univ-constantine2.dz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Phone number: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Website (optional):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Social media (optional):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0" y="865584"/>
            <a:ext cx="873616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PROJECT SUMMARY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6150" y="2283348"/>
            <a:ext cx="14302820" cy="4336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 err="1">
                <a:solidFill>
                  <a:srgbClr val="FFFBFB"/>
                </a:solidFill>
                <a:latin typeface="Almarai Bold"/>
              </a:rPr>
              <a:t>NeuraCard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is a digital health platform that brings a patient's main medical tests (brain MRI, heart ECG, echocardiogram and EEG) together in one place.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Today these tests are read separately, by different specialists, on different systems, so no one sees the full picture when the decision is made. With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NeuraCard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, a doctor opens a patient, uploads any test, and instantly gets an AI-assisted reading, with a clear explanation of how it was reached, all gathered into one combined report.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The result: simpler, faster and more trustworthy diagnosis, and a platform that can grow toward catching disease earlier by connecting the heart and the brain.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1001594" y="283407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76709" y="2798567"/>
            <a:ext cx="15887163" cy="1010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 err="1">
                <a:solidFill>
                  <a:srgbClr val="FFFBFB"/>
                </a:solidFill>
                <a:latin typeface="Almarai Bold"/>
              </a:rPr>
              <a:t>Ramoul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Mazen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, Master's student in Fundamental Computer Science &amp; Applications, University of Constantine 2. Supervised by Prof. DERDOUR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Makhlouf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and Prof. TALBI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Hichem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287344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THE TEAM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4729391" y="3295066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03</a:t>
            </a:r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1004932" y="4498764"/>
            <a:ext cx="518653" cy="403322"/>
            <a:chOff x="0" y="0"/>
            <a:chExt cx="812800" cy="6320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757183" y="4523734"/>
            <a:ext cx="15724656" cy="1010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Project lead and sole developer who designed and built the whole platform end to end: the web application, the AI analysis for all four tests, the visual explanations, and the secure online deployment.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4957974" y="-179252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87163" cy="45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WHAT IS THE IDENTIFIED PROBLEM?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6150" y="2880048"/>
            <a:ext cx="16266512" cy="3006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A patient often needs several tests (MRI, ECG, echocardiogram, EEG), but each is read on its own: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Different specialists, different systems, different days, with no shared view of the patient.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The AI tools that could help are scattered, each built for a single test, and rarely leave the lab.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They act like black boxes that give an answer with no reason, so doctors cannot fully trust them.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So the full picture never comes together at the moment the decision must be made.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47817" y="6319628"/>
            <a:ext cx="15887163" cy="3156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3200" b="1" dirty="0">
                <a:solidFill>
                  <a:srgbClr val="17E3B2"/>
                </a:solidFill>
                <a:latin typeface="Almarai Bold"/>
              </a:rPr>
              <a:t>Why it matters (WHO):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Non-communicable diseases cause about 74% of all deaths worldwide.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Cardiovascular disease, with 17.9 million deaths a year, is the leading cause.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Cancer, with around 10 million deaths a year, is the second.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Test volumes keep rising every year, while specialists stay scarce.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2955" y="865584"/>
            <a:ext cx="753641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TARGETED PROBLEM</a:t>
            </a:r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29672" y="2436740"/>
            <a:ext cx="15887163" cy="45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CONCISE AND CLEAR DESCRIPTION OF THE PROPOSED SOLUTION: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6150" y="3264669"/>
            <a:ext cx="15887163" cy="412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 err="1">
                <a:solidFill>
                  <a:srgbClr val="FFFBFB"/>
                </a:solidFill>
                <a:latin typeface="Almarai Bold"/>
              </a:rPr>
              <a:t>NeuraCard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is one secure workspace for clinicians: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Files from hospital machines are converted automatically, ready to use.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Open a patient, upload any test, and get an instant AI-assisted reading.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Every result is explained visually: the platform shows what the AI looked at, with an interactive 3D brain and heart.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All tests are combined into one clear report.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It is honest decision support: the doctor always stays in control; the AI never decides alone.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2954" y="865584"/>
            <a:ext cx="10733373" cy="71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THE PROPOSED SOLUTION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87163" cy="42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PUT THE LINK TO YOUR PROTOTYPE/SERVICE HERE: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6150" y="3264669"/>
            <a:ext cx="15887163" cy="219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 LINK TO AN EXPLANATORY VIDEO OF 4 MINUTES MAXIMUM FOR HARDWARE PROTOTYPES.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AN APK LINK FOR APPLICATIONS (ANDROID/IOS).</a:t>
            </a:r>
          </a:p>
          <a:p>
            <a:pPr marL="539749" lvl="1" indent="-269875" algn="l">
              <a:lnSpc>
                <a:spcPts val="34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A LINK TO THE PROJECT WEBSITE.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362955" y="865584"/>
            <a:ext cx="1486238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PROTOTYPE PRESENTATION (PRODUCT/SERVICE)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87163" cy="262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INTELLECTUAL PROPERTY STATUS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2499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PATENTS FILED OR PENDING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2499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REGISTERED TRADEMARKS OR DESIGNS</a:t>
            </a:r>
          </a:p>
          <a:p>
            <a:pPr marL="539749" lvl="1" indent="-269875" algn="l">
              <a:lnSpc>
                <a:spcPts val="3449"/>
              </a:lnSpc>
              <a:buFont typeface="Arial"/>
              <a:buChar char="•"/>
            </a:pPr>
            <a:r>
              <a:rPr lang="en-US" sz="2499" b="1" dirty="0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COPYRIGHTS OR LICENSES</a:t>
            </a:r>
          </a:p>
          <a:p>
            <a:pPr algn="l">
              <a:lnSpc>
                <a:spcPts val="3449"/>
              </a:lnSpc>
            </a:pPr>
            <a:endParaRPr dirty="0"/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1325082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PATENTS, TRADEMARKS AND INTELLECTUAL PROPERTY RIGHTS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 sz="24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87163" cy="3113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3200" b="1" dirty="0">
                <a:solidFill>
                  <a:srgbClr val="17E3B2"/>
                </a:solidFill>
                <a:latin typeface="Almarai Bold"/>
              </a:rPr>
              <a:t>What </a:t>
            </a:r>
            <a:r>
              <a:rPr sz="3200" b="1" dirty="0" err="1">
                <a:solidFill>
                  <a:srgbClr val="17E3B2"/>
                </a:solidFill>
                <a:latin typeface="Almarai Bold"/>
              </a:rPr>
              <a:t>NeuraCard</a:t>
            </a:r>
            <a:r>
              <a:rPr sz="3200" b="1" dirty="0">
                <a:solidFill>
                  <a:srgbClr val="17E3B2"/>
                </a:solidFill>
                <a:latin typeface="Almarai Bold"/>
              </a:rPr>
              <a:t> brings</a:t>
            </a:r>
            <a:r>
              <a:rPr sz="3200" b="1" dirty="0" smtClean="0">
                <a:solidFill>
                  <a:srgbClr val="17E3B2"/>
                </a:solidFill>
                <a:latin typeface="Almarai Bold"/>
              </a:rPr>
              <a:t>:</a:t>
            </a:r>
            <a:endParaRPr sz="3200" b="1" dirty="0">
              <a:solidFill>
                <a:srgbClr val="17E3B2"/>
              </a:solidFill>
              <a:latin typeface="Almarai Bold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For doctors: one workflow for every test, instant readings, and a single combined report.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Clear and trustworthy: every result is explained, so doctors see why, not just what.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For hospitals: faster diagnosis, data kept safely on-site, and a valuable medical data asset.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For patients: earlier, better-connected care and a clearer, explained result.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54869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ADDED VALUE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87163" cy="4264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3200" b="1" dirty="0">
                <a:solidFill>
                  <a:srgbClr val="17E3B2"/>
                </a:solidFill>
                <a:latin typeface="Almarai Bold"/>
              </a:rPr>
              <a:t>Competitive </a:t>
            </a:r>
            <a:r>
              <a:rPr sz="3600" b="1" dirty="0">
                <a:solidFill>
                  <a:srgbClr val="17E3B2"/>
                </a:solidFill>
                <a:latin typeface="Almarai Bold"/>
              </a:rPr>
              <a:t>edge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Most tools today handle only one test (one for ECG, one for heart ultrasound, one for brain scans), plus general hospital imaging and record systems.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They are useful, but each works alone and offers little explanation.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NeuraCard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is the only platform that brings every test together into one clear, explained picture, and keeps the data inside the hospital.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Connecting the heart and the brain in one place is something no single-test tool can offer.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862670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COMPETITIVE ANALYSIS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87163" cy="3766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3200" b="1" dirty="0">
                <a:solidFill>
                  <a:srgbClr val="17E3B2"/>
                </a:solidFill>
                <a:latin typeface="Almarai Bold"/>
              </a:rPr>
              <a:t>Who it is for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Private diagnostic and radiology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centres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offering modern, AI-assisted check-ups.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Public and university hospitals, especially busy cardiology and neurology departments.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Research </a:t>
            </a:r>
            <a:r>
              <a:rPr sz="2600" b="1" dirty="0" err="1">
                <a:solidFill>
                  <a:srgbClr val="FFFBFB"/>
                </a:solidFill>
                <a:latin typeface="Almarai Bold"/>
              </a:rPr>
              <a:t>centres</a:t>
            </a:r>
            <a:r>
              <a:rPr sz="2600" b="1" dirty="0">
                <a:solidFill>
                  <a:srgbClr val="FFFBFB"/>
                </a:solidFill>
                <a:latin typeface="Almarai Bold"/>
              </a:rPr>
              <a:t> and medical universities.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Daily users: cardiologists, neurologists, radiologists, general doctors and a support technician.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Who benefits most: patients, through earlier, clearer and better-connected care.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832677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TARGET MARKET ANALYSIS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62955" y="865584"/>
            <a:ext cx="12148251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BUSINESS MODEL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11</a:t>
            </a:r>
          </a:p>
        </p:txBody>
      </p:sp>
      <p:pic>
        <p:nvPicPr>
          <p:cNvPr id="23" name="BMC_image" descr="NeuraCard_BM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864" y="1691640"/>
            <a:ext cx="15892272" cy="8413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028700" y="5585602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 cstate="print"/>
              <a:stretch>
                <a:fillRect l="-126211" r="-1262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71035" y="2312438"/>
            <a:ext cx="518653" cy="403322"/>
            <a:chOff x="0" y="0"/>
            <a:chExt cx="812800" cy="6320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32061"/>
            </a:xfrm>
            <a:custGeom>
              <a:avLst/>
              <a:gdLst/>
              <a:ahLst/>
              <a:cxnLst/>
              <a:rect l="l" t="t" r="r" b="b"/>
              <a:pathLst>
                <a:path w="812800" h="632061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6150" y="2276927"/>
            <a:ext cx="15887163" cy="5429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3200" b="1" dirty="0">
                <a:solidFill>
                  <a:srgbClr val="17E3B2"/>
                </a:solidFill>
                <a:latin typeface="Almarai Bold"/>
              </a:rPr>
              <a:t>Roadmap &amp; growth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Validate: pilot with a hospital partner and fine-tune the system on local data.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Certify &amp; deploy: obtain medical-device approval and install the first on-site systems.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Connect: evolve toward a model that links the heart and the brain to flag disease earlier.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•  Scale: add more test types (CT, PET), more hospitals, and reports in Arabic, French &amp; English.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Milestones: a working pilot in the first months, first hospital deployments within a year, and nationwide growth with cross-modal prediction over three years.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dirty="0">
                <a:solidFill>
                  <a:srgbClr val="FFFBFB"/>
                </a:solidFill>
                <a:latin typeface="Almarai Bold"/>
              </a:rPr>
              <a:t>What we need: a small expert team (AI, medical-imaging and clinical), secure on-site servers, curated data, and certification support</a:t>
            </a:r>
            <a:r>
              <a:rPr sz="2000" b="1" dirty="0">
                <a:solidFill>
                  <a:srgbClr val="FFFBFB"/>
                </a:solidFill>
                <a:latin typeface="Almarai Bold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955" y="865584"/>
            <a:ext cx="1646548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PROJECT ROADMAP AND DEVELOPMENT STRATEGY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83694" y="620221"/>
            <a:ext cx="1224824" cy="12248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 cstate="print"/>
              <a:stretch>
                <a:fillRect l="-126211" r="-1262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7983" y="751284"/>
            <a:ext cx="1456246" cy="80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000" b="1" dirty="0">
                <a:solidFill>
                  <a:srgbClr val="17E3B2"/>
                </a:solidFill>
                <a:latin typeface="Almarai"/>
                <a:ea typeface="Almarai"/>
                <a:cs typeface="Almarai"/>
                <a:sym typeface="Almarai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24279" y="7348460"/>
            <a:ext cx="5735021" cy="120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23"/>
              </a:lnSpc>
            </a:pPr>
            <a:r>
              <a:rPr lang="en-US" sz="6873" b="1" spc="419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1014</Words>
  <Application>Microsoft Office PowerPoint</Application>
  <PresentationFormat>Personnalisé</PresentationFormat>
  <Paragraphs>100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Almarai Bold</vt:lpstr>
      <vt:lpstr>Calibri</vt:lpstr>
      <vt:lpstr>Arimo</vt:lpstr>
      <vt:lpstr>Almarai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de Blue Professional Business Project Presentation</dc:title>
  <dc:creator>MAZEN</dc:creator>
  <cp:lastModifiedBy>Compte Microsoft</cp:lastModifiedBy>
  <cp:revision>13</cp:revision>
  <dcterms:created xsi:type="dcterms:W3CDTF">2006-08-16T00:00:00Z</dcterms:created>
  <dcterms:modified xsi:type="dcterms:W3CDTF">2026-06-26T17:33:04Z</dcterms:modified>
  <dc:identifier>DAGbdmUyKf0</dc:identifier>
</cp:coreProperties>
</file>